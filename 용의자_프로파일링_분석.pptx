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1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124"/>
                </a:solidFill>
                <a:latin typeface="Arial"/>
              </a:rPr>
              <a:t>구역별 응시 비율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용의자3</c:v>
                </c:pt>
              </c:strCache>
            </c:strRef>
          </c:tx>
          <c:spPr>
            <a:solidFill>
              <a:srgbClr val="3E6B7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4 화분</c:v>
                  </c:pt>
                  <c:pt idx="1">
                    <c:v>3 상자·선반</c:v>
                  </c:pt>
                  <c:pt idx="2">
                    <c:v>2 책장</c:v>
                  </c:pt>
                  <c:pt idx="3">
                    <c:v>1 책상 (실제)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46.3</c:v>
                </c:pt>
                <c:pt idx="1">
                  <c:v>11.7</c:v>
                </c:pt>
                <c:pt idx="2">
                  <c:v>14.3</c:v>
                </c:pt>
                <c:pt idx="3">
                  <c:v>27.7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용의자1</c:v>
                </c:pt>
              </c:strCache>
            </c:strRef>
          </c:tx>
          <c:spPr>
            <a:solidFill>
              <a:srgbClr val="A8321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4 화분</c:v>
                  </c:pt>
                  <c:pt idx="1">
                    <c:v>3 상자·선반</c:v>
                  </c:pt>
                  <c:pt idx="2">
                    <c:v>2 책장</c:v>
                  </c:pt>
                  <c:pt idx="3">
                    <c:v>1 책상 (실제)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18.1</c:v>
                </c:pt>
                <c:pt idx="1">
                  <c:v>3.1</c:v>
                </c:pt>
                <c:pt idx="2">
                  <c:v>13.9</c:v>
                </c:pt>
                <c:pt idx="3">
                  <c:v>64.9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9525" cap="flat">
              <a:solidFill>
                <a:srgbClr val="E3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1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124"/>
                </a:solidFill>
                <a:latin typeface="Arial"/>
              </a:rPr>
              <a:t>축별 점수 누적 (각 축 25점 · 총 100점)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축1 교차평가</c:v>
                </c:pt>
              </c:strCache>
            </c:strRef>
          </c:tx>
          <c:spPr>
            <a:solidFill>
              <a:srgbClr val="A832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용의자3</c:v>
                  </c:pt>
                  <c:pt idx="1">
                    <c:v>용의자2</c:v>
                  </c:pt>
                  <c:pt idx="2">
                    <c:v>용의자1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19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축2 일관성</c:v>
                </c:pt>
              </c:strCache>
            </c:strRef>
          </c:tx>
          <c:spPr>
            <a:solidFill>
              <a:srgbClr val="B44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용의자3</c:v>
                  </c:pt>
                  <c:pt idx="1">
                    <c:v>용의자2</c:v>
                  </c:pt>
                  <c:pt idx="2">
                    <c:v>용의자1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</c:v>
                </c:pt>
                <c:pt idx="1">
                  <c:v>17</c:v>
                </c:pt>
                <c:pt idx="2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축3 논리적 통일성</c:v>
                </c:pt>
              </c:strCache>
            </c:strRef>
          </c:tx>
          <c:spPr>
            <a:solidFill>
              <a:srgbClr val="BF5B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용의자3</c:v>
                  </c:pt>
                  <c:pt idx="1">
                    <c:v>용의자2</c:v>
                  </c:pt>
                  <c:pt idx="2">
                    <c:v>용의자1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</c:v>
                </c:pt>
                <c:pt idx="1">
                  <c:v>17</c:v>
                </c:pt>
                <c:pt idx="2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축4 태도·행동</c:v>
                </c:pt>
              </c:strCache>
            </c:strRef>
          </c:tx>
          <c:spPr>
            <a:solidFill>
              <a:srgbClr val="CA72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용의자3</c:v>
                  </c:pt>
                  <c:pt idx="1">
                    <c:v>용의자2</c:v>
                  </c:pt>
                  <c:pt idx="2">
                    <c:v>용의자1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21</c:v>
                </c:pt>
                <c:pt idx="1">
                  <c:v>22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1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E3E1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은닉 위치는 교수 책상 위 책들 사이. 4표 이상 받으면 알바비가 깎이는 구조라, 범인은 무고한 사람보다 3배 강한 회피 동기를 가진다.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가설은 서로 다른 출력 경로를 쓴다. 언어, 안구운동, 사회적 판단. 한 경로에서만 이상이 나오면 우연일 수 있지만 셋이 같은 사람을 가리키면 의미가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대본으로 외운 진술은 언어로는 재생되지만 도면에서는 좌표를 새로 만들어야 한다는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사건에서 가장 중대한 내부 모순. 다만 녹취록이 음성인식 결과라 영상 재확인이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용의자2는 지갑을 직접 발견해 이미 위치를 알고 있으므로 과제에서 제외했다. 따라서 용의자1과 3의 비교만 가능하다.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절대 응시 시간은 과제 시간이 달라 비교 불가. 그래서 비율과 분산도로만 판단했다.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용의자3은 책장을 120ms에 봤지만 그 정도 잠복기는 자발적 주의로 보기 어렵다. 두 번째 시선인 책상과 화분은 40ms 이내 차이라 사실상 동시로 봐야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축은 성격 요인이 크게 섞인다. 대조군 없이 단독으로 쓰면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 모델의 준거 체계를 그대로 구현한 것이 아니라 공개된 핵심 원리를 적용한 것. 배점은 우리가 정했다.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용의자2는 지갑을 만졌다는 불리한 사실을 스스로 밝혔고 용의자3의 목격과 시각이 일치해 신빙성은 오히려 높게 평가됐다.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가설이 서로 다른 출력 경로를 쓴다는 점이 핵심. 우연히 한 축에서 이상이 나올 수는 있어도 세 경로가 동시에 같은 사람을 가리키기는 어렵다.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진술 변동은 기억 오류로도 발생한다. 발표 때 이 한계를 반드시 함께 말할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BCSC · 연구실 현금 분실 사건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연구실 현금 분실 사건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가설로 좁혀 간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 판별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3886200"/>
            <a:ext cx="1005840" cy="18288"/>
          </a:xfrm>
          <a:prstGeom prst="rect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0624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묘사 모순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아이트래킹 · 무의식적 첫 시선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 고발 · 위기 회피 행동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4434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 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강태희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개요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 연구실 책상 위 책들 사이에 놓인 지갑에서 현금 20만원이 사라졌다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5727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08:55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72768" y="1572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용의자3 · 1차 방문 (과제 설명)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2768" y="20299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3인 + 교수 모임 · 테이블에 마른 잎 있음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09:15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72768" y="24871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용의자2 입실 · 지갑 발견 및 개봉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9443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09:20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29443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용의자2 퇴실 · 용의자3이 탐색 장면 목격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4015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09:25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72768" y="34015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 입실 · 마른 잎 사라진 것 확인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8587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3858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 퇴실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43159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09:40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72768" y="43159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용의자3 입실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7731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09:45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72768" y="47731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용의자3 퇴실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523036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72768" y="52303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교수가 라운지에서 사건 고지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18120" y="1572768"/>
            <a:ext cx="3794760" cy="1874520"/>
          </a:xfrm>
          <a:prstGeom prst="roundRect">
            <a:avLst>
              <a:gd name="adj" fmla="val 2927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은닉 위치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교수님 책상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092440" y="25603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책들 사이에 세워진 지갑 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사후에 확인된 사실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818120" y="3630168"/>
            <a:ext cx="3794760" cy="2103120"/>
          </a:xfrm>
          <a:prstGeom prst="roundRect">
            <a:avLst>
              <a:gd name="adj" fmla="val 2609"/>
            </a:avLst>
          </a:prstGeom>
          <a:solidFill>
            <a:srgbClr val="1F2124"/>
          </a:solidFill>
          <a:ln w="9525">
            <a:solidFill>
              <a:srgbClr val="1F21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구조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2440" y="4114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훔침 · 안 들킴      20만원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훔침 · 들킴          5만원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무고 · 안 들킴      10만원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무고 · 들킴          5만원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92440" y="5230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범인의 회피 동기가 3배 크다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설계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진술 하나만으로는 판별되지 않는다 — 서로 다른 출력 경로 세 개를 교차한다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38144" cy="3977640"/>
          </a:xfrm>
          <a:prstGeom prst="roundRect">
            <a:avLst>
              <a:gd name="adj" fmla="val 1596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묘사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vs 도면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3218688"/>
            <a:ext cx="502920" cy="18288"/>
          </a:xfrm>
          <a:prstGeom prst="rect">
            <a:avLst/>
          </a:prstGeom>
          <a:solidFill>
            <a:srgbClr val="E3E1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38328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그리기는 말하기보다 인지부하가 높다.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위조된 진술은 두 출력 사이에서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모순을 드러낸다.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1600200"/>
            <a:ext cx="3438144" cy="3977640"/>
          </a:xfrm>
          <a:prstGeom prst="roundRect">
            <a:avLst>
              <a:gd name="adj" fmla="val 1596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53712" y="237744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아이트래킹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53712" y="2788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무의식적 첫 시선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53712" y="3218688"/>
            <a:ext cx="502920" cy="18288"/>
          </a:xfrm>
          <a:prstGeom prst="rect">
            <a:avLst/>
          </a:prstGeom>
          <a:solidFill>
            <a:srgbClr val="E3E1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338328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기억을 인출하면 공간 인덱스가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안구운동을 촉발한다.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 시 시선 억제는 더 어려워진다.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91856" y="1600200"/>
            <a:ext cx="3438144" cy="3977640"/>
          </a:xfrm>
          <a:prstGeom prst="roundRect">
            <a:avLst>
              <a:gd name="adj" fmla="val 1596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66176" y="2377440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 고발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66176" y="2788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 회피 행동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66176" y="3218688"/>
            <a:ext cx="502920" cy="18288"/>
          </a:xfrm>
          <a:prstGeom prst="rect">
            <a:avLst/>
          </a:prstGeom>
          <a:solidFill>
            <a:srgbClr val="E3E1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6176" y="3383280"/>
            <a:ext cx="28895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지수 10점을 두 사람에게 배분시킨다.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없는 사람은 5:5에 가깝고,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범인은 비대칭적으로 배분한다.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475488"/>
            <a:ext cx="384048" cy="384048"/>
          </a:xfrm>
          <a:prstGeom prst="rect">
            <a:avLst/>
          </a:prstGeom>
          <a:solidFill>
            <a:srgbClr val="1F21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1 · 경로 묘사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말과 그림은 다른 경로로 나온다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그리기는 공간 좌표를 실제로 인출해야 하므로 언어 진술보다 인지부하가 높다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진술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순서대로 외운 대본을 재생할 수 있다.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정보가 없어도 문장이 성립한다.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429000"/>
            <a:ext cx="5120640" cy="1463040"/>
          </a:xfrm>
          <a:prstGeom prst="roundRect">
            <a:avLst>
              <a:gd name="adj" fmla="val 3750"/>
            </a:avLst>
          </a:prstGeom>
          <a:solidFill>
            <a:srgbClr val="1F2124"/>
          </a:solidFill>
          <a:ln w="9525">
            <a:solidFill>
              <a:srgbClr val="1F21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묘사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9776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5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선을 그으려면 실제 위치를 인출해야 한다.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5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대본에 없는 좌표는 즉석에서 만들어야 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2377440"/>
            <a:ext cx="18288" cy="2377440"/>
          </a:xfrm>
          <a:prstGeom prst="rect">
            <a:avLst/>
          </a:prstGeom>
          <a:solidFill>
            <a:srgbClr val="E3E1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10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1214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사건을 두 경로로 두 번 진술시킨 뒤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출력이 서로 맞물리는지 본다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063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자유 진술 — 들어가서 나올 때까지 말로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역순 회상 — 나올 때부터 거꾸로</a:t>
            </a:r>
            <a:endParaRPr lang="en-US" sz="13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도면 묘사 — 평면도에 동선·정지점·접촉물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443484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F5F4F1"/>
          </a:solidFill>
          <a:ln w="9525">
            <a:solidFill>
              <a:srgbClr val="F5F4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46634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출력이 어긋나는 지점이 곧 인출 실패 지점이다.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475488"/>
            <a:ext cx="384048" cy="384048"/>
          </a:xfrm>
          <a:prstGeom prst="rect">
            <a:avLst/>
          </a:prstGeom>
          <a:solidFill>
            <a:srgbClr val="1F21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1 · 결과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접근 여부를 스스로 뒤집었다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 · 실제 은닉 장소가 바로 그 책상이다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역순 회상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 w="9525">
            <a:solidFill>
              <a:srgbClr val="F5F4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21284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“냉장고 쪽으로 가서 이렇게 이제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책상 쪽에서 이렇게 돌았고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화분을 바라보고”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답변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029968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FBF0EE"/>
          </a:solidFill>
          <a:ln w="12700">
            <a:solidFill>
              <a:srgbClr val="A832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128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“책상 있는 쪽도 안 가셨나요?”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“네, 저는 일직선으로만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i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다녔습니다.”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675888"/>
            <a:ext cx="10863072" cy="18288"/>
          </a:xfrm>
          <a:prstGeom prst="rect">
            <a:avLst/>
          </a:prstGeom>
          <a:solidFill>
            <a:srgbClr val="E3E1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986784"/>
            <a:ext cx="146304" cy="146304"/>
          </a:xfrm>
          <a:prstGeom prst="ellipse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136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도면에서는 책상을 돌았다고 그렸다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93192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 묘사는 좌표를 인출해야 하므로 실제 동선이 새어 나온다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90288"/>
            <a:ext cx="146304" cy="146304"/>
          </a:xfrm>
          <a:prstGeom prst="ellipse">
            <a:avLst/>
          </a:prstGeom>
          <a:solidFill>
            <a:srgbClr val="1F21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171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말로는 책상에 가지 않았다고 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4535424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진술은 대본대로 재생되어 “일직선”이라는 단순한 형태를 유지한다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193792"/>
            <a:ext cx="146304" cy="146304"/>
          </a:xfrm>
          <a:prstGeom prst="ellipse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1206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체류 시간도 3회 변동했다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513892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25~30분 → 23분쯤 → 솔직히 5분일 수도. 핵심 사실이 반복 번복되었다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475488"/>
            <a:ext cx="384048" cy="384048"/>
          </a:xfrm>
          <a:prstGeom prst="rect">
            <a:avLst/>
          </a:prstGeom>
          <a:solidFill>
            <a:srgbClr val="1F21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 · 아이트래킹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기억을 인출하면 눈이 먼저 움직인다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“어디에 있을 것 같으세요?”는 위치 기억을 강제로 인출시키는 질문이다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6675120" cy="2011680"/>
          </a:xfrm>
          <a:prstGeom prst="roundRect">
            <a:avLst>
              <a:gd name="adj" fmla="val 2727"/>
            </a:avLst>
          </a:prstGeom>
          <a:solidFill>
            <a:srgbClr val="1F2124"/>
          </a:solidFill>
          <a:ln w="9525">
            <a:solidFill>
              <a:srgbClr val="1F21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6126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“Look here, eye movements play a functional role in memory retrieval”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Johansson &amp; Johansson (2014). Psychological Science, 25(1), 236–242.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5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기억을 인출하면 그 공간 인덱스가 원래 제시되었던 위치로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5D8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안구운동을 촉발한다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1737360"/>
            <a:ext cx="3886200" cy="2011680"/>
          </a:xfrm>
          <a:prstGeom prst="roundRect">
            <a:avLst>
              <a:gd name="adj" fmla="val 2727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93852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억제가 안 되는가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228600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거짓을 말하려면 진실을 억제하고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대안을 생성해야 한다.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자원이 그쪽으로 쏠리면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안구운동을 통제할 여력이 줄어든다.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절차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279392"/>
            <a:ext cx="2523744" cy="1417320"/>
          </a:xfrm>
          <a:prstGeom prst="roundRect">
            <a:avLst>
              <a:gd name="adj" fmla="val 3871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" y="4736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선정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" y="504748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 위치를 모른다고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진술한 용의자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46704" y="4279392"/>
            <a:ext cx="2523744" cy="1417320"/>
          </a:xfrm>
          <a:prstGeom prst="roundRect">
            <a:avLst>
              <a:gd name="adj" fmla="val 3871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75304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75304" y="4736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 제시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75304" y="504748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4분할 사진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위치 + 그럴듯한 3곳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26480" y="4279392"/>
            <a:ext cx="2523744" cy="1417320"/>
          </a:xfrm>
          <a:prstGeom prst="roundRect">
            <a:avLst>
              <a:gd name="adj" fmla="val 3871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4736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504748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“어디에 있었을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 같으세요?”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06256" y="4279392"/>
            <a:ext cx="2523744" cy="1417320"/>
          </a:xfrm>
          <a:prstGeom prst="roundRect">
            <a:avLst>
              <a:gd name="adj" fmla="val 3871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4856" y="4434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34856" y="473659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34856" y="5047488"/>
            <a:ext cx="206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진입 시각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응시 비율 · 진입 횟수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475488"/>
            <a:ext cx="384048" cy="384048"/>
          </a:xfrm>
          <a:prstGeom prst="rect">
            <a:avLst/>
          </a:prstGeom>
          <a:solidFill>
            <a:srgbClr val="1F21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 · 측정값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용의자1의 시선은 실제 위치에 몰렸다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사람이 같은 사진을 봤으므로 사진의 눈에 띔 정도만으로는 설명되지 않는다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69164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965960"/>
          <a:ext cx="46177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234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용의자1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용의자3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 첫 진입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A832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749 ms  최속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E6B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1,172 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 진입 횟수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A832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34회  최다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E6B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책장 첫 진입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A832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7,618 ms  지연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E6B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 ms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시선 분산도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A832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  집중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E6B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  분산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1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응시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A832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31.7 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3E6B7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48.7 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12280" y="46177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분산도 0 = 한 곳 집중 · 1 = 고르게 분산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812280" y="4937760"/>
            <a:ext cx="4617720" cy="777240"/>
          </a:xfrm>
          <a:prstGeom prst="roundRect">
            <a:avLst>
              <a:gd name="adj" fmla="val 7059"/>
            </a:avLst>
          </a:prstGeom>
          <a:solidFill>
            <a:srgbClr val="F5F4F1"/>
          </a:solidFill>
          <a:ln w="9525">
            <a:solidFill>
              <a:srgbClr val="F5F4F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040880" y="50749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용의자3의 분산 패턴은 위치를 모르는 사람의 전형에 가깝다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2 · 판독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지목한 곳과 시선이 어긋난다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용의자1에게서만 나타난 현상이다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94960" cy="1965960"/>
          </a:xfrm>
          <a:prstGeom prst="roundRect">
            <a:avLst>
              <a:gd name="adj" fmla="val 2791"/>
            </a:avLst>
          </a:prstGeom>
          <a:solidFill>
            <a:srgbClr val="2A2D31"/>
          </a:solidFill>
          <a:ln w="12700">
            <a:solidFill>
              <a:srgbClr val="3A3E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 지목한 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책장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27355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위치와 다르다 · 시선이 가장 늦게 닿은 구역(7,618ms)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0312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3A1C17"/>
          </a:solidFill>
          <a:ln w="15875">
            <a:solidFill>
              <a:srgbClr val="A832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A0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시선이 머문 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65392" y="25786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책상  64.9%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65392" y="32735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FC4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은닉 위치 · 화면을 보자마자 749ms 만에 진입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407408"/>
            <a:ext cx="128016" cy="128016"/>
          </a:xfrm>
          <a:prstGeom prst="ellipse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343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주의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36168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구역 중 가장 빠른 첫 진입. 탐색이 아니라 이미 아는 곳으로 간 패턴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956048"/>
            <a:ext cx="128016" cy="128016"/>
          </a:xfrm>
          <a:prstGeom prst="ellipse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892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회귀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49103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34회로 최다. 억제하려 해도 시선이 되돌아왔다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504688"/>
            <a:ext cx="128016" cy="128016"/>
          </a:xfrm>
          <a:prstGeom prst="ellipse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5440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진술과의 괴리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91840" y="54589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지목한 책장은 오히려 가장 늦게, 가장 짧게 봤다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1320" y="475488"/>
            <a:ext cx="384048" cy="384048"/>
          </a:xfrm>
          <a:prstGeom prst="rect">
            <a:avLst/>
          </a:prstGeom>
          <a:solidFill>
            <a:srgbClr val="1F21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3 · 타인 고발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위기에서 벗어나려는 사람은 지목한다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두 명에 대한 의심 지수 10점을 배분시켰다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F5F4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65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실증이 없는 사람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없으므로 5 : 5 에 가깝게 배분하거나 배분 자체를 거부한다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FBF0EE"/>
          </a:solidFill>
          <a:ln w="12700">
            <a:solidFill>
              <a:srgbClr val="A832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2918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자신을 방어해야 하는 사람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의심을 자신에게서 떼어내기 위해 비대칭적으로 배분한다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관찰된 반응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057400"/>
            <a:ext cx="18288" cy="658368"/>
          </a:xfrm>
          <a:prstGeom prst="rect">
            <a:avLst/>
          </a:prstGeom>
          <a:solidFill>
            <a:srgbClr val="3E6B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“정말 잘 모르겠어서 못 하겠어요” — 배분 거부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3017520"/>
            <a:ext cx="18288" cy="658368"/>
          </a:xfrm>
          <a:prstGeom prst="rect">
            <a:avLst/>
          </a:prstGeom>
          <a:solidFill>
            <a:srgbClr val="3E6B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6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2918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사람 모두에게 근거를 제시 — 목격 진술 기반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977640"/>
            <a:ext cx="18288" cy="932688"/>
          </a:xfrm>
          <a:prstGeom prst="rect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251960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마른 잎 이야기로 다른 사람 쪽에 의심을 유도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“대학원 생각 없는 사람”을 특정 인물로 지목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120640"/>
            <a:ext cx="10863072" cy="914400"/>
          </a:xfrm>
          <a:prstGeom prst="roundRect">
            <a:avLst>
              <a:gd name="adj" fmla="val 6000"/>
            </a:avLst>
          </a:prstGeom>
          <a:solidFill>
            <a:srgbClr val="1F2124"/>
          </a:solidFill>
          <a:ln w="9525">
            <a:solidFill>
              <a:srgbClr val="1F21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367528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가설 중 판별력이 가장 약하다 — 성격 편차가 크고, 목격에 근거한 지목은 정당하다. 보조 지표로만 쓴다.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K-SCAM 진술 신빙성 평가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한국형 진술 신빙성 평가 모델의 공개된 핵심 원리를 이번 사건에 적용했다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0863072" cy="9144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385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교차평가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69080" y="19385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사람의 진술이 서로를 지지하는가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193852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용의자1만 실제 위치와 다른 곳을 지목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670048"/>
            <a:ext cx="10863072" cy="9144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96265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296265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69080" y="29626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질문에서 같은 답이 유지되는가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9626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 체류시간 3회 변동 · 생수 처리 번복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694176"/>
            <a:ext cx="10863072" cy="9144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98678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91640" y="3986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 통일성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9080" y="39867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사람의 진술 내부가 맞물리는가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640" y="39867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 책상 접근 여부를 스스로 뒤집음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718304"/>
            <a:ext cx="10863072" cy="914400"/>
          </a:xfrm>
          <a:prstGeom prst="roundRect">
            <a:avLst>
              <a:gd name="adj" fmla="val 60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0109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50109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태도·행동 조화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069080" y="5010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진술과 태도·시선이 어울리는가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50109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 말과 시선의 방향이 어긋남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086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— 「한국형 진술 신빙성 평가 모델(K-SCAM) 제안 및 타당성 검증」, 치안정책연구 36(2), 2022 · 경찰대학 치안정책연구소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축 모두에서 용의자1이 최저였다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하나가 아니라 전 축에서 최저라는 점이 중요하다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BF0EE"/>
          </a:solidFill>
          <a:ln w="15875">
            <a:solidFill>
              <a:srgbClr val="A8321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2048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92640" y="19659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692640" y="25237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100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18120" y="310896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3328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0" y="32461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9692640" y="38039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100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18120" y="438912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2440" y="46085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92640" y="4526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692640" y="508406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100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18120" y="5715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점수가 낮다는 것이 곧 절도를 뜻하지는 않는다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9AE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 1 · 강태희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1005840" cy="18288"/>
          </a:xfrm>
          <a:prstGeom prst="rect">
            <a:avLst/>
          </a:prstGeom>
          <a:solidFill>
            <a:srgbClr val="A832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9748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2A2D31"/>
          </a:solidFill>
          <a:ln w="12700">
            <a:solidFill>
              <a:srgbClr val="3A3E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묘사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도면에서는 책상을 돌았다고 그려 놓고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말로는 일직선으로만 다녔다고 진술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69748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2A2D31"/>
          </a:solidFill>
          <a:ln w="12700">
            <a:solidFill>
              <a:srgbClr val="3A3E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아이트래킹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은닉 위치 응시 64.9%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진입 749ms — 4개 구역 중 최속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지목한 책장은 가장 늦게 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69748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2A2D31"/>
          </a:solidFill>
          <a:ln w="12700">
            <a:solidFill>
              <a:srgbClr val="3A3E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 고발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3703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9CD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마른 잎 이야기로 다른 사람에게 의심을 유도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3A1C17"/>
          </a:solidFill>
          <a:ln w="15875">
            <a:solidFill>
              <a:srgbClr val="A832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3218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경로가 독립적으로 같은 사람을 가리켰고, K-SCAM 네 축 모두에서 최저였다 — 36점 대 75·76점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결론과 반드시 함께 제시되어야 하는 조건들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표본과 통제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n=2 · 기준선 측정 없음 · 1회 시행. 실험실 은닉정보검사는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회 반복과 통제군 비교로 신뢰도를 확보한다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953512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723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정밀도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741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기반 추정이라 정밀도가 낮다. 구역을 크게(4분할) 잡아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보정했으나 한계는 남는다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261104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3799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자극의 비동등성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8172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사진의 시각적 현저성이 같지 않다. 특히 화분 사진에는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유리에 사람이 비쳐 시선을 끄는 교란이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08192" y="16459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7647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대상 미측정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2066544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용의자2는 지갑을 직접 발견해 과제에서 제외됐다.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비교가 불완전하다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08192" y="2953512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072384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문헌의 불일치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337413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곳을 더 본다는 보고와 오히려 회피한다는 보고가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문헌에 함께 존재한다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08192" y="4261104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5F4F1"/>
          </a:solidFill>
          <a:ln w="9525">
            <a:solidFill>
              <a:srgbClr val="E3E1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437997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녹취 품질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64224" y="468172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녹취록이 음성인식 결과라 일부 표현이 부정확하다.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F44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용의자1의 내부 모순은 영상으로 재확인이 필요하다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5650992"/>
            <a:ext cx="10863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32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신빙성 점수가 낮다는 것과 절도를 저질렀다는 것은 다른 명제다. 이 분석은 조사 우선순위이지 확정이 아니다.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2026-08-08T06:56:37Z</dcterms:created>
  <dcterms:modified xsi:type="dcterms:W3CDTF">2026-08-08T06:56:37Z</dcterms:modified>
</cp:coreProperties>
</file>